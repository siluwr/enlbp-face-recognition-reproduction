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939b94bf7f40cb" /><Relationship Type="http://schemas.openxmlformats.org/officeDocument/2006/relationships/extended-properties" Target="/docProps/app.xml" Id="R034f0a873bac46e2" /><Relationship Type="http://schemas.openxmlformats.org/officeDocument/2006/relationships/officeDocument" Target="/ppt/presentation.xml" Id="Rc063ede92f0f47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d5e9925a145eb"/>
  </p:sldMasterIdLst>
  <p:notesMasterIdLst>
    <p:notesMasterId xmlns:r="http://schemas.openxmlformats.org/officeDocument/2006/relationships" r:id="R7bb2b332503d4212"/>
  </p:notesMasterIdLst>
  <p:sldIdLst>
    <p:sldId xmlns:r="http://schemas.openxmlformats.org/officeDocument/2006/relationships" id="256" r:id="Rf64bff9d8938445c"/>
    <p:sldId xmlns:r="http://schemas.openxmlformats.org/officeDocument/2006/relationships" id="257" r:id="R62efe9751f8547c9"/>
    <p:sldId xmlns:r="http://schemas.openxmlformats.org/officeDocument/2006/relationships" id="258" r:id="R011cf28d0ad24d53"/>
    <p:sldId xmlns:r="http://schemas.openxmlformats.org/officeDocument/2006/relationships" id="259" r:id="R95d750e0e7d34737"/>
    <p:sldId xmlns:r="http://schemas.openxmlformats.org/officeDocument/2006/relationships" id="260" r:id="R96718276677e4155"/>
    <p:sldId xmlns:r="http://schemas.openxmlformats.org/officeDocument/2006/relationships" id="261" r:id="R93a6e3b294964968"/>
    <p:sldId xmlns:r="http://schemas.openxmlformats.org/officeDocument/2006/relationships" id="262" r:id="R6778cdf97f364eca"/>
    <p:sldId xmlns:r="http://schemas.openxmlformats.org/officeDocument/2006/relationships" id="263" r:id="Ra3a8ab0a786d4e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e83495be98416c" /><Relationship Type="http://schemas.openxmlformats.org/officeDocument/2006/relationships/slideMaster" Target="/ppt/slideMasters/slideMaster1.xml" Id="Rfadd5e9925a145eb" /><Relationship Type="http://schemas.openxmlformats.org/officeDocument/2006/relationships/notesMaster" Target="/ppt/notesMasters/notesMaster1.xml" Id="R7bb2b332503d4212" /><Relationship Type="http://schemas.openxmlformats.org/officeDocument/2006/relationships/presProps" Target="/ppt/presProps.xml" Id="Rdf45ca45bda14439" /><Relationship Type="http://schemas.openxmlformats.org/officeDocument/2006/relationships/tableStyles" Target="/ppt/tableStyles.xml" Id="Rb07993973138436f" /><Relationship Type="http://schemas.openxmlformats.org/officeDocument/2006/relationships/slide" Target="/ppt/slides/slide1.xml" Id="Rf64bff9d8938445c" /><Relationship Type="http://schemas.openxmlformats.org/officeDocument/2006/relationships/slide" Target="/ppt/slides/slide2.xml" Id="R62efe9751f8547c9" /><Relationship Type="http://schemas.openxmlformats.org/officeDocument/2006/relationships/slide" Target="/ppt/slides/slide3.xml" Id="R011cf28d0ad24d53" /><Relationship Type="http://schemas.openxmlformats.org/officeDocument/2006/relationships/slide" Target="/ppt/slides/slide4.xml" Id="R95d750e0e7d34737" /><Relationship Type="http://schemas.openxmlformats.org/officeDocument/2006/relationships/slide" Target="/ppt/slides/slide5.xml" Id="R96718276677e4155" /><Relationship Type="http://schemas.openxmlformats.org/officeDocument/2006/relationships/slide" Target="/ppt/slides/slide6.xml" Id="R93a6e3b294964968" /><Relationship Type="http://schemas.openxmlformats.org/officeDocument/2006/relationships/slide" Target="/ppt/slides/slide7.xml" Id="R6778cdf97f364eca" /><Relationship Type="http://schemas.openxmlformats.org/officeDocument/2006/relationships/slide" Target="/ppt/slides/slide8.xml" Id="Ra3a8ab0a786d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9813cb9f7e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nLBP Editorial">
      <a:dk1>
        <a:srgbClr val="000000"/>
      </a:dk1>
      <a:lt1>
        <a:srgbClr val="FFFFFF"/>
      </a:lt1>
      <a:dk2>
        <a:srgbClr val="123047"/>
      </a:dk2>
      <a:lt2>
        <a:srgbClr val="DCE3E6"/>
      </a:lt2>
      <a:accent1>
        <a:srgbClr val="007C83"/>
      </a:accent1>
      <a:accent2>
        <a:srgbClr val="3471A2"/>
      </a:accent2>
      <a:accent3>
        <a:srgbClr val="B98127"/>
      </a:accent3>
      <a:accent4>
        <a:srgbClr val="74678D"/>
      </a:accent4>
      <a:accent5>
        <a:srgbClr val="417A55"/>
      </a:accent5>
      <a:accent6>
        <a:srgbClr val="AB4C50"/>
      </a:accent6>
      <a:hlink>
        <a:srgbClr val="007C83"/>
      </a:hlink>
      <a:folHlink>
        <a:srgbClr val="74678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EnLBP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6bc98a468402d" /><Relationship Type="http://schemas.openxmlformats.org/officeDocument/2006/relationships/notesMaster" Target="/ppt/notesMasters/notesMaster1.xml" Id="R59599bd63170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bb50e7cc6948fc" /><Relationship Type="http://schemas.openxmlformats.org/officeDocument/2006/relationships/notesMaster" Target="/ppt/notesMasters/notesMaster1.xml" Id="R5ca7aeb1b90e4b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b2c2619dac4b97" /><Relationship Type="http://schemas.openxmlformats.org/officeDocument/2006/relationships/notesMaster" Target="/ppt/notesMasters/notesMaster1.xml" Id="R96a0906cb86345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b8e32987d447f7" /><Relationship Type="http://schemas.openxmlformats.org/officeDocument/2006/relationships/notesMaster" Target="/ppt/notesMasters/notesMaster1.xml" Id="R03b1d82c77764e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867453b8294acb" /><Relationship Type="http://schemas.openxmlformats.org/officeDocument/2006/relationships/notesMaster" Target="/ppt/notesMasters/notesMaster1.xml" Id="R88436c3a5c884a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f467cbb64445e1" /><Relationship Type="http://schemas.openxmlformats.org/officeDocument/2006/relationships/notesMaster" Target="/ppt/notesMasters/notesMaster1.xml" Id="R19c049cec38d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fa6b5fea044a43" /><Relationship Type="http://schemas.openxmlformats.org/officeDocument/2006/relationships/notesMaster" Target="/ppt/notesMasters/notesMaster1.xml" Id="Rdf55a32eee8944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6c2dce6b9641fd" /><Relationship Type="http://schemas.openxmlformats.org/officeDocument/2006/relationships/notesMaster" Target="/ppt/notesMasters/notesMaster1.xml" Id="R29ee52da99b5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本报告介绍 EnLBP 的公开假设重建，以及在该实现上进行的工程优化。算法依据：Robust Face Recognition Using Enhanced Local Binary Pattern (2018), DOI 10.11591/eei.v7i1.761。原论文存在阈值与流程歧义，本项目明确保留解释和对照。封面为生成式概念插画，不代表实验人脸或算法实测输出。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左侧为原论文图1手算示例。位序从右方开始：E, NE, N, NW, W, SW, S, SE，权重从2^0到2^7。示例编码为237。右侧实际图像来自 data/orl/s1/1.pgm，来源 AT&amp;T Laboratories Cambridge，https://www.cl.cam.ac.uk/research/dtg/attarchive/facedatabase.html 。均值图的PNG显示将数值四舍五入为uint8，仅用于显示，核心算法仍保留float64。图像不做对比度增强。EnLBP采用非重叠3×3均值和valid dense LBP，一层；原始数据像素尺寸没有改变。来源：enlbp/descriptors.py；论文 DOI 10.11591/eei.v7i1.761。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数据源：outputs/reference_figures/comparison_summary.json 与两个 outputs/lbp_enlbp_* 实验目录。种子0–9，原图尺寸，灰度处理，不缩放、不做直方图均衡化。LBP直方图为8×8分区，每区256 bins、L1归一化。LFW-a从至少11张图像的身份中随机选择14人，每人5张训练，其余全部测试，测试数量196–795。ORL每次200张训练、200张测试。原论文分数与本表独立重建结果不能混用。当前实现优化没有改变这80组配置的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代码位置：enlbp/descriptors.py 中 uint8 输入的安全快路径、_histogram_layout、lbp_histogram；run_experiment.py 中 encode 预分配。原实现快照在 benchmarks/reference_v1。区域键为 region_id*256+LBP_code，一次np.bincount后按各区像素数归一化，与原来64次bincount逐元素相等。缓存maxsize=8，仅缓存图像尺寸与网格确定的偏移量和区域大小。其他类型仍执行有限值和float64验证。统计来源：outputs/optimization/summary.json。tracemalloc测量操作期间新增分配峰值，输入矩阵在测量前分配，布局缓存已预热，数值不是进程总R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 outputs/optimization/summary.json，matching_peak_bytes_after / matching_peak_bytes_before。与完整相似度矩阵API不同，Top-1接口按批处理，临时内存随批大小而非查询总数增长。默认256仅限制归一化与相似度的工作区，输入矩阵仍需要驻留。CosineIndex拥有训练特征与标签的副本，初始化一次后可重复query。零向量相似度仍为0，并列最高分仍选训练集中第一行。归一化以最大绝对值缩放防止溢出，使用einsum行范数减少矩阵临时量。分配峰值为tracemalloc指标，不是进程R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 outputs/optimization/summary.json 和 timing_repeats.csv。加速比为优化前平均计算耗时/优化后平均计算耗时。每个seed的compute_seconds为编码5次测量中位数与匹配5次测量中位数之和，然后对种子等权平均，不是完整进程墙钟时间。基准交替执行前后版本以减少顺序效应，设置OPENBLAS_NUM_THREADS、MKL_NUM_THREADS、OMP_NUM_THREADS为1。基准环境详见benchmark_manifest.json。图中保留两种EnLBP阈值，避免选择性展示。机器状态可能影响计时，不能把这些描述性结果当作跨硬件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 outputs/optimization/equivalence.json。共80行配置/seed比较，测试预测总数23624，特征向量逐元素相等，预测身份与最近邻训练图索引全部相同。浮点分数不承诺逐位一致，报告观测到的最大误差。测试包含非整除网格、uint8快路径、批边界、零向量、负相似度、并列首行、极端有限值、输入不被修改和索引副本所有权。索引复用额外测量见gallery_reuse.json：每批16张查询，seed0，包含一次建库；并非所有seed的性能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结果来源 outputs/optimization/summary.json；代码及完整复现背景 https://github.com/siluwr/enlbp-face-recognition-reproduction 。论文：Robust Face Recognition Using Enhanced Local Binary Pattern (2018), DOI 10.11591/eei.v7i1.761。前述99.07%与61.428%属于原论文报告，不能混为本项目实测，因此本演示未作为我们的结果展示。方法来源：Kassis, T., Agarwal, V., He, Y., Patel, D., &amp; Brueckner, A. M. (2026), Scientific Agent Skills: A Library of Procedural Knowledge for Research Agents, https://doi.org/10.48550/arXiv.2609.00065 ，用于科学可视化与呈现，不是EnLBP算法来源。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13397532c41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45a8350184b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1232138e24e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cef6ac25a40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44ee5940840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f3718f411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A81CBC-63FF-4CFC-93C6-9A48C4FD7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E2E710-1DDF-44EB-8134-2094408D3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5BD802-8612-4DB8-A99A-AA9858AF8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829664-FB7B-4416-985B-3060C8FFA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42ACFB-BCA1-470A-B751-3465823690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36C077-257C-4254-B1C9-08C6E02F2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C9E904-0778-45B6-84B2-33DE03B84D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AC6F60-393B-4F66-B459-0037878E87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44588-7BC8-4CCF-992A-CA54986A8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3A157D-B501-4B2E-B458-43532E041C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5f28f975a3427d" /><Relationship Type="http://schemas.openxmlformats.org/officeDocument/2006/relationships/slideLayout" Target="/ppt/slideLayouts/slideLayout1.xml" Id="R65c007ca45b44fbb" /><Relationship Type="http://schemas.openxmlformats.org/officeDocument/2006/relationships/slideLayout" Target="/ppt/slideLayouts/slideLayout2.xml" Id="R1c896a52e5bb4511" /><Relationship Type="http://schemas.openxmlformats.org/officeDocument/2006/relationships/slideLayout" Target="/ppt/slideLayouts/slideLayout3.xml" Id="R896a55c047524e09" /><Relationship Type="http://schemas.openxmlformats.org/officeDocument/2006/relationships/slideLayout" Target="/ppt/slideLayouts/slideLayout4.xml" Id="R96629f6788604403" /><Relationship Type="http://schemas.openxmlformats.org/officeDocument/2006/relationships/slideLayout" Target="/ppt/slideLayouts/slideLayout5.xml" Id="R6782553285e94b29" /><Relationship Type="http://schemas.openxmlformats.org/officeDocument/2006/relationships/slideLayout" Target="/ppt/slideLayouts/slideLayout6.xml" Id="R8194efde202641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007ca45b44fbb"/>
    <p:sldLayoutId xmlns:r="http://schemas.openxmlformats.org/officeDocument/2006/relationships" id="2147483650" r:id="R1c896a52e5bb4511"/>
    <p:sldLayoutId xmlns:r="http://schemas.openxmlformats.org/officeDocument/2006/relationships" id="2147483651" r:id="R896a55c047524e09"/>
    <p:sldLayoutId xmlns:r="http://schemas.openxmlformats.org/officeDocument/2006/relationships" id="2147483652" r:id="R96629f6788604403"/>
    <p:sldLayoutId xmlns:r="http://schemas.openxmlformats.org/officeDocument/2006/relationships" id="2147483653" r:id="R6782553285e94b29"/>
    <p:sldLayoutId xmlns:r="http://schemas.openxmlformats.org/officeDocument/2006/relationships" id="2147483654" r:id="R8194efde202641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nLBP Editorial">
      <a:dk1>
        <a:srgbClr val="000000"/>
      </a:dk1>
      <a:lt1>
        <a:srgbClr val="FFFFFF"/>
      </a:lt1>
      <a:dk2>
        <a:srgbClr val="123047"/>
      </a:dk2>
      <a:lt2>
        <a:srgbClr val="DCE3E6"/>
      </a:lt2>
      <a:accent1>
        <a:srgbClr val="007C83"/>
      </a:accent1>
      <a:accent2>
        <a:srgbClr val="3471A2"/>
      </a:accent2>
      <a:accent3>
        <a:srgbClr val="B98127"/>
      </a:accent3>
      <a:accent4>
        <a:srgbClr val="74678D"/>
      </a:accent4>
      <a:accent5>
        <a:srgbClr val="417A55"/>
      </a:accent5>
      <a:accent6>
        <a:srgbClr val="AB4C50"/>
      </a:accent6>
      <a:hlink>
        <a:srgbClr val="007C83"/>
      </a:hlink>
      <a:folHlink>
        <a:srgbClr val="74678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EnLBP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3e6e8c2ae43b7" /><Relationship Type="http://schemas.openxmlformats.org/officeDocument/2006/relationships/image" Target="/ppt/media/image.png" Id="R346a2d41575f4fdc" /><Relationship Type="http://schemas.openxmlformats.org/officeDocument/2006/relationships/notesSlide" Target="/ppt/notesSlides/notesSlide1.xml" Id="R4f0c4deb99db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60a9e4dc54604" /><Relationship Type="http://schemas.openxmlformats.org/officeDocument/2006/relationships/image" Target="/ppt/media/image2.png" Id="R6d652c99949e4424" /><Relationship Type="http://schemas.openxmlformats.org/officeDocument/2006/relationships/image" Target="/ppt/media/image3.png" Id="R80aae51042bd4290" /><Relationship Type="http://schemas.openxmlformats.org/officeDocument/2006/relationships/image" Target="/ppt/media/image4.png" Id="R5efb4cb598de4396" /><Relationship Type="http://schemas.openxmlformats.org/officeDocument/2006/relationships/notesSlide" Target="/ppt/notesSlides/notesSlide2.xml" Id="R58d53bc34241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e8a36dc3a46ea" /><Relationship Type="http://schemas.openxmlformats.org/officeDocument/2006/relationships/notesSlide" Target="/ppt/notesSlides/notesSlide3.xml" Id="Rf9adc12bb70b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c958e6208b4d8a" /><Relationship Type="http://schemas.openxmlformats.org/officeDocument/2006/relationships/notesSlide" Target="/ppt/notesSlides/notesSlide4.xml" Id="R76437f30bd6446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ac0a7e70b402d" /><Relationship Type="http://schemas.openxmlformats.org/officeDocument/2006/relationships/chart" Target="/ppt/slides/charts/chart1.xml" Id="Rd89f01615ecd4c05" /><Relationship Type="http://schemas.openxmlformats.org/officeDocument/2006/relationships/notesSlide" Target="/ppt/notesSlides/notesSlide5.xml" Id="R4af07e2ec2ed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165596b679477f" /><Relationship Type="http://schemas.openxmlformats.org/officeDocument/2006/relationships/chart" Target="/ppt/slides/charts/chart2.xml" Id="Rf2fe66e6a65e4ed9" /><Relationship Type="http://schemas.openxmlformats.org/officeDocument/2006/relationships/notesSlide" Target="/ppt/notesSlides/notesSlide6.xml" Id="R43c947105fd746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2cac453e44479" /><Relationship Type="http://schemas.openxmlformats.org/officeDocument/2006/relationships/notesSlide" Target="/ppt/notesSlides/notesSlide7.xml" Id="Rd0e3a79eecb1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ae65d19f24af1" /><Relationship Type="http://schemas.openxmlformats.org/officeDocument/2006/relationships/notesSlide" Target="/ppt/notesSlides/notesSlide8.xml" Id="R00a57db811b741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匹配分配峰值保留比例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0">
              <a:solidFill>
                <a:srgbClr val="1230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ORL</c:v>
          </c:tx>
          <c:spPr>
            <a:solidFill xmlns:a="http://schemas.openxmlformats.org/drawingml/2006/main">
              <a:srgbClr val="3471A2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LBP 编码</c:v>
                </c:pt>
                <c:pt idx="1">
                  <c:v>LBP 直方图</c:v>
                </c:pt>
                <c:pt idx="2">
                  <c:v>EnLBP (&gt;)</c:v>
                </c:pt>
                <c:pt idx="3">
                  <c:v>EnLBP (≥)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0.672432</c:v>
                </c:pt>
                <c:pt idx="1">
                  <c:v>0.670153</c:v>
                </c:pt>
                <c:pt idx="2">
                  <c:v>0.724021</c:v>
                </c:pt>
                <c:pt idx="3">
                  <c:v>0.72402</c:v>
                </c:pt>
              </c:numCache>
            </c:numRef>
          </c:val>
        </c:ser>
        <c:ser>
          <c:idx val="1"/>
          <c:order val="1"/>
          <c:tx>
            <c:v>LFW-a</c:v>
          </c:tx>
          <c:spPr>
            <a:solidFill xmlns:a="http://schemas.openxmlformats.org/drawingml/2006/main">
              <a:srgbClr val="007C83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LBP 编码</c:v>
                </c:pt>
                <c:pt idx="1">
                  <c:v>LBP 直方图</c:v>
                </c:pt>
                <c:pt idx="2">
                  <c:v>EnLBP (&gt;)</c:v>
                </c:pt>
                <c:pt idx="3">
                  <c:v>EnLBP (≥)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0.393103</c:v>
                </c:pt>
                <c:pt idx="1">
                  <c:v>0.394131</c:v>
                </c:pt>
                <c:pt idx="2">
                  <c:v>0.396226</c:v>
                </c:pt>
                <c:pt idx="3">
                  <c:v>0.396226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2304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66775"/>
                    </a:solidFill>
                    <a:latin typeface="Microsoft YaHei"/>
                    <a:ea typeface="Microsoft YaHei"/>
                    <a:cs typeface="Microsoft YaHei"/>
                  </a:rPr>
                  <a:t>优化后 / 优化前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6677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2304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计算加速比 = 优化前耗时 / 优化后耗时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0">
              <a:solidFill>
                <a:srgbClr val="12304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ORL</c:v>
          </c:tx>
          <c:spPr>
            <a:solidFill xmlns:a="http://schemas.openxmlformats.org/drawingml/2006/main">
              <a:srgbClr val="3471A2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LBP 编码</c:v>
                </c:pt>
                <c:pt idx="1">
                  <c:v>LBP 直方图</c:v>
                </c:pt>
                <c:pt idx="2">
                  <c:v>EnLBP (&gt;)</c:v>
                </c:pt>
                <c:pt idx="3">
                  <c:v>EnLBP (≥)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1.571818</c:v>
                </c:pt>
                <c:pt idx="1">
                  <c:v>2.366721</c:v>
                </c:pt>
                <c:pt idx="2">
                  <c:v>1.059501</c:v>
                </c:pt>
                <c:pt idx="3">
                  <c:v>1.058343</c:v>
                </c:pt>
              </c:numCache>
            </c:numRef>
          </c:val>
        </c:ser>
        <c:ser>
          <c:idx val="1"/>
          <c:order val="1"/>
          <c:tx>
            <c:v>LFW-a</c:v>
          </c:tx>
          <c:spPr>
            <a:solidFill xmlns:a="http://schemas.openxmlformats.org/drawingml/2006/main">
              <a:srgbClr val="007C83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LBP 编码</c:v>
                </c:pt>
                <c:pt idx="1">
                  <c:v>LBP 直方图</c:v>
                </c:pt>
                <c:pt idx="2">
                  <c:v>EnLBP (&gt;)</c:v>
                </c:pt>
                <c:pt idx="3">
                  <c:v>EnLBP (≥)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1.536189</c:v>
                </c:pt>
                <c:pt idx="1">
                  <c:v>1.717071</c:v>
                </c:pt>
                <c:pt idx="2">
                  <c:v>1.107606</c:v>
                </c:pt>
                <c:pt idx="3">
                  <c:v>1.11209</c:v>
                </c:pt>
              </c:numCache>
            </c:numRef>
          </c:val>
        </c:ser>
        <c:dLbls>
          <c:numFmt formatCode="0.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2304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66775"/>
                    </a:solidFill>
                    <a:latin typeface="Microsoft YaHei"/>
                    <a:ea typeface="Microsoft YaHei"/>
                    <a:cs typeface="Microsoft YaHei"/>
                  </a:rPr>
                  <a:t>加速倍数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6677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E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23047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AB4DC-7693-4F5B-9CFC-4D798CC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4F6CD-9C4F-45CD-9F83-2B1E8CD90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a2d41575f4f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CBE89-2AA9-46FB-9770-DE2EB55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EnLBP 人脸识别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D0E93-F201-4068-9AC9-0DDF3626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算法复现与代码优化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025CA-2FB1-48FD-8E7E-8824FF6B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57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相同识别规则下的计算加速与内存优化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D9892-805C-48B9-B19A-5119C42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ORL 与 LFW-a 配对实验</a:t>
            </a:r>
          </a:p>
          <a:p xmlns:a="http://schemas.openxmlformats.org/drawingml/2006/main">
            <a:pPr algn="l">
              <a:defRPr sz="16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590744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5D82A-19ED-4666-91F6-A2064BB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局部纹理编码与均值压缩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3B479-0746-45EE-AA0F-7D95767C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LBP 比较中心与邻域灰度，EnLBP 先压缩空间采样密度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E3178-06F3-4DD2-A952-6713EB0B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CCE82-32E1-4B2B-BB0F-A1FAFB7F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一个 3×3 邻域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D7875-03E9-4205-9E14-C9A2B42904E0}"/>
              </a:ext>
            </a:extLst>
          </p:cNvPr>
          <p:cNvGraphicFramePr/>
          <p:nvPr/>
        </p:nvGraphicFramePr>
        <p:xfrm>
          <a:off xmlns:a="http://schemas.openxmlformats.org/drawingml/2006/main" x="666750" y="2476500"/>
          <a:ext xmlns:a="http://schemas.openxmlformats.org/drawingml/2006/main" cx="3238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76325"/>
                <a:gridCol w="1085850"/>
                <a:gridCol w="1076325"/>
              </a:tblGrid>
              <a:tr h="6985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167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  <a:tr h="6985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112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007C83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143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210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42F6C-E493-4092-ABE5-DF1EEB15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中心灰度 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473CE-794A-4E78-83F2-4E3CDBF3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3762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11101101₂ = 237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D5DE1-5EC8-4E44-A534-938FF2A1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15F6C-E506-4770-AB2F-1B3960A43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52c99949e4424"/>
          <a:stretch xmlns:a="http://schemas.openxmlformats.org/drawingml/2006/main"/>
        </p:blipFill>
        <p:spPr>
          <a:xfrm xmlns:a="http://schemas.openxmlformats.org/drawingml/2006/main">
            <a:off x="4957592" y="2590800"/>
            <a:ext cx="1838665" cy="2238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03308-41D2-42FD-BECE-B500D549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815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112×92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0B468-2318-4D6E-8DB2-C2EE6DE1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81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3×3 均值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557F0-636A-4F85-957D-93F1D6A23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ae51042bd4290"/>
          <a:stretch xmlns:a="http://schemas.openxmlformats.org/drawingml/2006/main"/>
        </p:blipFill>
        <p:spPr>
          <a:xfrm xmlns:a="http://schemas.openxmlformats.org/drawingml/2006/main">
            <a:off x="7169751" y="2590800"/>
            <a:ext cx="1814899" cy="22383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C0E5-87C7-4DF6-95F7-B4728EEA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815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37×30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70431-80F0-4FD5-9EE6-ABE625F7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81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EnLBP 编码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00E74-0F47-4DB3-ADCA-D8650CC43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b4cb598de4396"/>
          <a:stretch xmlns:a="http://schemas.openxmlformats.org/drawingml/2006/main"/>
        </p:blipFill>
        <p:spPr>
          <a:xfrm xmlns:a="http://schemas.openxmlformats.org/drawingml/2006/main">
            <a:off x="9382125" y="2590800"/>
            <a:ext cx="1790700" cy="22383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BA948-7E26-4F14-ACB1-7C2101D8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8157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35×28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FA8F4-AD18-4DB3-9D7A-24908E42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149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ORL 编码维数：9,900 减至 980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B0ED4-7762-4798-BCC8-492FBA1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96025"/>
            <a:ext cx="1033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LBP 用 ≥；EnLBP 正文解释用 &gt;，同时保留 ≥ 对照。</a:t>
            </a:r>
          </a:p>
        </p:txBody>
      </p:sp>
    </p:spTree>
    <p:extLst>
      <p:ext uri="{BB962C8B-B14F-4D97-AF65-F5344CB8AC3E}">
        <p14:creationId xmlns:p14="http://schemas.microsoft.com/office/powerpoint/2010/main" val="223055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06BF5-4D8A-4137-B8F5-3BB248B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识别精度取决于特征表示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A7E3D-52BD-4409-BE13-B484904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同一余弦最近邻分类器，四种配置共享每次划分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C39BE-196C-4943-848D-BA57BB25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C30E7-DF9B-498C-A552-6EDF6F5332DC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7381875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2286000"/>
                <a:gridCol w="2286000"/>
              </a:tblGrid>
              <a:tr h="64389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特征表示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ORL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LFW-a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64389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LBP 编码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62.75 ± 3.92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14.38 ± 8.60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LBP 直方图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93.40 ± 1.17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15.06 ± 3.54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  <a:tr h="64389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EnLBP (&gt;)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80.25 ± 2.31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20.92 ± 5.92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EnLBP (≥)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80.30 ± 2.21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21.97 ± 8.04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52FAB-F850-4A95-90A4-6F6219EF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000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实验设置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5281F-31D2-4D50-84F5-32809480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14625"/>
            <a:ext cx="28956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每个数据集 10 次划分</a:t>
            </a:r>
          </a:p>
          <a:p xmlns:a="http://schemas.openxmlformats.org/drawingml/2006/main">
            <a:pPr algn="l">
              <a:def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每个身份 5 张训练图像</a:t>
            </a:r>
          </a:p>
          <a:p xmlns:a="http://schemas.openxmlformats.org/drawingml/2006/main">
            <a:pPr algn="l">
              <a:def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ORL 固定 40 个身份</a:t>
            </a:r>
          </a:p>
          <a:p xmlns:a="http://schemas.openxmlformats.org/drawingml/2006/main">
            <a:pPr algn="l">
              <a:def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LFW-a 每次 14 个身份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D0D74-56CA-411A-9694-BEB3E5A7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019675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EnLBP 的维数更少</a:t>
            </a:r>
          </a:p>
          <a:p xmlns:a="http://schemas.openxmlformats.org/drawingml/2006/main">
            <a:pPr algn="l">
              <a:defRPr sz="21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准确率取决于数据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8DF68-2E2F-4E86-AA5C-F5CFED6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33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准确率单位为 %，表内为均值 ± 划分间样本 SD。划分共享图像，SD 不是置信区间。</a:t>
            </a:r>
          </a:p>
        </p:txBody>
      </p:sp>
    </p:spTree>
    <p:extLst>
      <p:ext uri="{BB962C8B-B14F-4D97-AF65-F5344CB8AC3E}">
        <p14:creationId xmlns:p14="http://schemas.microsoft.com/office/powerpoint/2010/main" val="727646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3F0BB-707E-4193-8F68-36959D6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编码阶段减少循环与数组复制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D47FA-A5B6-416F-8DF9-C688DA65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优化局部实现，保持每一张图像的特征定义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EF2CA-D2A5-4B0A-87E3-1A696FE0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56C13-735E-4298-AB36-483811F55921}"/>
              </a:ext>
            </a:extLst>
          </p:cNvPr>
          <p:cNvGraphicFramePr/>
          <p:nvPr/>
        </p:nvGraphicFramePr>
        <p:xfrm>
          <a:off xmlns:a="http://schemas.openxmlformats.org/drawingml/2006/main" x="619125" y="20097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2650"/>
                <a:gridCol w="4362450"/>
                <a:gridCol w="4419600"/>
              </a:tblGrid>
              <a:tr h="67437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优化前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优化后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T w="7144">
                      <a:solidFill>
                        <a:srgbClr val="DCE3E6"/>
                      </a:solidFill>
                      <a:prstDash val="solid"/>
                    </a:lnT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67437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灰度比较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先转换为 float64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uint8 图像直接比较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分区直方图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次分区统计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区域索引合并，1 次统计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  <a:tr h="67437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区域划分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每张图重复构造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缓存仅依赖尺寸的布局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特征矩阵</a:t>
                      </a:r>
                    </a:p>
                  </a:txBody>
                  <a:tcPr marL="91440" marR="91440" marT="45720" marB="45720" anchor="ctr">
                    <a:lnL w="7144">
                      <a:solidFill>
                        <a:srgbClr val="DCE3E6"/>
                      </a:solidFill>
                      <a:prstDash val="solid"/>
                    </a:lnL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保存列表，再整体堆叠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2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一次预分配，逐行写入</a:t>
                      </a:r>
                    </a:p>
                  </a:txBody>
                  <a:tcPr marL="91440" marR="91440" marT="45720" marB="45720" anchor="ctr">
                    <a:lnR w="7144">
                      <a:solidFill>
                        <a:srgbClr val="DCE3E6"/>
                      </a:solidFill>
                      <a:prstDash val="solid"/>
                    </a:lnR>
                    <a:lnB w="7144">
                      <a:solidFill>
                        <a:srgbClr val="DCE3E6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155AA-6AEB-4AD8-9E3F-09FE869B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05475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编码阶段的分配峰值接近减半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EF4C3-3E49-47BD-B150-7224AF76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96025"/>
            <a:ext cx="10325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缓存保存分区位置，不保存标签或训练统计。非整除尺寸仍沿用原有 array_split 分区规则。</a:t>
            </a:r>
          </a:p>
        </p:txBody>
      </p:sp>
    </p:spTree>
    <p:extLst>
      <p:ext uri="{BB962C8B-B14F-4D97-AF65-F5344CB8AC3E}">
        <p14:creationId xmlns:p14="http://schemas.microsoft.com/office/powerpoint/2010/main" val="1306764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5FDD8-B6ED-41BC-8844-CB15A76D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匹配阶段复用归一化并分批查询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2322C-BC9A-4E62-8594-9546C103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相同的余弦 Top-1 规则，用更少的临时矩阵完成计算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E8299-A044-4BEC-B0AA-6C893625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0769C-768A-4EE6-87B2-9EC0B6B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02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原位缩放与归一化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2285B-6D28-4C2F-83B5-339D3C2E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3762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保留极大、极小值保护</a:t>
            </a:r>
          </a:p>
          <a:p xmlns:a="http://schemas.openxmlformats.org/drawingml/2006/main">
            <a: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避免创建平方和多个零矩阵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FBFE9-373B-4D5F-AF28-043A45D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528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每批最多 256 张查询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2C00D-6B03-4EB6-918B-D344F4FD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5325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逐批保留最高分与索引</a:t>
            </a:r>
          </a:p>
          <a:p xmlns:a="http://schemas.openxmlformats.org/drawingml/2006/main">
            <a: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CosineIndex 可复用训练图库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EBDDED9-B91B-4022-B92A-4CCF9E42D462}"/>
              </a:ext>
            </a:extLst>
          </p:cNvPr>
          <p:cNvGraphicFramePr/>
          <p:nvPr/>
        </p:nvGraphicFramePr>
        <p:xfrm>
          <a:off xmlns:a="http://schemas.openxmlformats.org/drawingml/2006/main" x="4638675" y="1952625"/>
          <a:ext xmlns:a="http://schemas.openxmlformats.org/drawingml/2006/main" cx="7000875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9f01615ecd4c0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329C2-CACF-47F9-94C1-2EE9A430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图中比例越低，新增内存越少。按每个数据集 10 次划分的平均分配峰值计算，测量不含输入矩阵。</a:t>
            </a:r>
          </a:p>
        </p:txBody>
      </p:sp>
    </p:spTree>
    <p:extLst>
      <p:ext uri="{BB962C8B-B14F-4D97-AF65-F5344CB8AC3E}">
        <p14:creationId xmlns:p14="http://schemas.microsoft.com/office/powerpoint/2010/main" val="746631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51D61-CEBA-4F27-8A93-A582ADBE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LBP 直方图获得最大的计算加速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84C81-648D-4F04-B682-91FDF311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计算耗时包含特征编码与匹配，排除读盘、解码和结果核对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BFBA9-A56D-4F27-844C-C5B53FEB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1B98208-5C0A-47D7-865F-A9745F10D31B}"/>
              </a:ext>
            </a:extLst>
          </p:cNvPr>
          <p:cNvGraphicFramePr/>
          <p:nvPr/>
        </p:nvGraphicFramePr>
        <p:xfrm>
          <a:off xmlns:a="http://schemas.openxmlformats.org/drawingml/2006/main" x="638175" y="1866900"/>
          <a:ext xmlns:a="http://schemas.openxmlformats.org/drawingml/2006/main" cx="109156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fe66e6a65e4e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490FE-2136-4C3F-8BBB-E74747DD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197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EnLBP 本身已较紧凑，本次总计算加速为 1.06–1.11 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C0C89-B174-431E-9E89-CAB0DBFB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334125"/>
            <a:ext cx="10353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同机单线程，每次划分预热 1 次、测量 5 次。先取各阶段中位数，再对 10 次划分求均值。</a:t>
            </a:r>
          </a:p>
        </p:txBody>
      </p:sp>
    </p:spTree>
    <p:extLst>
      <p:ext uri="{BB962C8B-B14F-4D97-AF65-F5344CB8AC3E}">
        <p14:creationId xmlns:p14="http://schemas.microsoft.com/office/powerpoint/2010/main" val="1752386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BD4EA-C798-409C-9752-E6285523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特征与 Top-1 预测保持一致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ED916-056B-4FA9-AEA7-66544B89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在全部对比划分上核对优化前后的实际输出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129CA-4366-4C15-88C3-110F24AD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5323A-1DC5-4DFB-B90A-64586DBD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55911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23,624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9D131-1CCB-4591-B45F-DB3BCA3C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逐张预测的身份与训练图索引一致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7BE7B-16CA-4C6C-8551-33222AF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80 / 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5629E-BD2D-479C-BBBA-6C1C6424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577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配置与划分的特征逐元素相同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7A46-3541-4EFD-9671-BF86F00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71700"/>
            <a:ext cx="461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图库复用接口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F047D-AE32-4C13-8FE0-EC7BA42A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86075"/>
            <a:ext cx="461962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23047"/>
                </a:solidFill>
                <a:latin typeface="Consolas"/>
                <a:ea typeface="Consolas"/>
                <a:cs typeface="Consolas"/>
              </a:rPr>
              <a:t>index = CosineIndex(</a:t>
            </a:r>
          </a:p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23047"/>
                </a:solidFill>
                <a:latin typeface="Consolas"/>
                <a:ea typeface="Consolas"/>
                <a:cs typeface="Consolas"/>
              </a:rPr>
              <a:t>    gallery, labels</a:t>
            </a:r>
          </a:p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23047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23047"/>
                </a:solidFill>
                <a:latin typeface="Consolas"/>
                <a:ea typeface="Consolas"/>
                <a:cs typeface="Consolas"/>
              </a:rPr>
              <a:t>pred, score, idx = index.query(</a:t>
            </a:r>
          </a:p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23047"/>
                </a:solidFill>
                <a:latin typeface="Consolas"/>
                <a:ea typeface="Consolas"/>
                <a:cs typeface="Consolas"/>
              </a:rPr>
              <a:t>    queries, batch_size=256</a:t>
            </a:r>
          </a:p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23047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B60DB-FDC0-4383-9C08-CC24BCA8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24475"/>
            <a:ext cx="452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同一训练图库接收多次查询时</a:t>
            </a:r>
          </a:p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可省去重复归一化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4BFDC-4909-4FAC-AFFC-A01C8F1E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62 项测试通过。浮点求和顺序改变，实测余弦分数最大绝对差为 6.45e-14，预测结果一致。</a:t>
            </a:r>
          </a:p>
        </p:txBody>
      </p:sp>
    </p:spTree>
    <p:extLst>
      <p:ext uri="{BB962C8B-B14F-4D97-AF65-F5344CB8AC3E}">
        <p14:creationId xmlns:p14="http://schemas.microsoft.com/office/powerpoint/2010/main" val="1481056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53D28-8652-4195-98AB-5250B8D6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优化结论与运行方式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A763E-F141-444D-9D18-1E1CC6DF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工程优化降低运行成本，识别能力仍由描述子和数据决定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3D4F0-FAE6-45C4-AEE0-C0D767D0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EEA65-430C-4210-B8D5-C1F3488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14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计算效率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BBF54-F5CA-419B-B556-A4E7D2EA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52725"/>
            <a:ext cx="3324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2.37×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E9218-390F-4989-A2C0-FE4F34C7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338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ORL 的 LBP 直方图加速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FC9B-4166-4A95-92AE-0033660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匹配内存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118BA-25F1-46E3-8A3F-450FB408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333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2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−60%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CA54E-B277-499C-81B3-1728EE03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290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LFW-a 的 EnLBP 分配峰值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05C16-836C-4C5F-BABB-9CED792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14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C83"/>
                </a:solidFill>
                <a:latin typeface="Microsoft YaHei"/>
                <a:ea typeface="Microsoft YaHei"/>
                <a:cs typeface="Microsoft YaHei"/>
              </a:rPr>
              <a:t>识别表现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DC1A3-D730-4FDF-BF95-5662D65B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62275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保持一致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D4655-7BC0-45E6-A8FB-7768E0DA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5812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80 组配对比较</a:t>
            </a:r>
          </a:p>
          <a:p xmlns:a="http://schemas.openxmlformats.org/drawingml/2006/main">
            <a:pPr algn="l">
              <a:defRPr sz="19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使用相同划分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2EF49-5A1A-459A-B202-ECCC7BB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782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复核测试：python -m pytest -q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7AE0-1064-43B2-8C7B-B9C29A3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3047"/>
                </a:solidFill>
                <a:latin typeface="Microsoft YaHei"/>
                <a:ea typeface="Microsoft YaHei"/>
                <a:cs typeface="Microsoft YaHei"/>
              </a:rPr>
              <a:t>重跑基准：python benchmark_optimization.py --output-dir outputs/bench_new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4B91F-D3C6-434A-9CD1-22E3022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31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775"/>
                </a:solidFill>
                <a:latin typeface="Microsoft YaHei"/>
                <a:ea typeface="Microsoft YaHei"/>
                <a:cs typeface="Microsoft YaHei"/>
              </a:rPr>
              <a:t>原论文 DOI: 10.11591/eei.v7i1.761。当前重建与原文存在设定差异，仍需关注对齐、样本不均衡和复杂背景。</a:t>
            </a:r>
          </a:p>
        </p:txBody>
      </p:sp>
    </p:spTree>
    <p:extLst>
      <p:ext uri="{BB962C8B-B14F-4D97-AF65-F5344CB8AC3E}">
        <p14:creationId xmlns:p14="http://schemas.microsoft.com/office/powerpoint/2010/main" val="1202606062"/>
      </p:ext>
    </p:extLst>
  </p:cSld>
</p:sld>
</file>

<file path=ppt/theme/theme1.xml><?xml version="1.0" encoding="utf-8"?>
<a:theme xmlns:a="http://schemas.openxmlformats.org/drawingml/2006/main" name="ChatGPT">
  <a:themeElements>
    <a:clrScheme name="EnLBP Editorial">
      <a:dk1>
        <a:srgbClr val="000000"/>
      </a:dk1>
      <a:lt1>
        <a:srgbClr val="FFFFFF"/>
      </a:lt1>
      <a:dk2>
        <a:srgbClr val="123047"/>
      </a:dk2>
      <a:lt2>
        <a:srgbClr val="DCE3E6"/>
      </a:lt2>
      <a:accent1>
        <a:srgbClr val="007C83"/>
      </a:accent1>
      <a:accent2>
        <a:srgbClr val="3471A2"/>
      </a:accent2>
      <a:accent3>
        <a:srgbClr val="B98127"/>
      </a:accent3>
      <a:accent4>
        <a:srgbClr val="74678D"/>
      </a:accent4>
      <a:accent5>
        <a:srgbClr val="417A55"/>
      </a:accent5>
      <a:accent6>
        <a:srgbClr val="AB4C50"/>
      </a:accent6>
      <a:hlink>
        <a:srgbClr val="007C83"/>
      </a:hlink>
      <a:folHlink>
        <a:srgbClr val="74678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EnLBP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2026-10-13T12:54:14.2410000Z</dcterms:created>
  <dcterms:modified xsi:type="dcterms:W3CDTF">2026-10-13T12:54:14.2410000Z</dcterms:modified>
</coreProperties>
</file>